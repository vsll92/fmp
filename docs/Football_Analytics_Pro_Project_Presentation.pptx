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-274320"/>
            <a:ext cx="5486400" cy="7223760"/>
          </a:xfrm>
          <a:prstGeom prst="arc">
            <a:avLst/>
          </a:prstGeom>
          <a:solidFill>
            <a:srgbClr val="0B0F14">
              <a:alpha val="0"/>
            </a:srgbClr>
          </a:solidFill>
          <a:ln w="12700">
            <a:solidFill>
              <a:srgbClr val="FFD700">
                <a:alpha val="18000"/>
              </a:srgbClr>
            </a:solidFill>
            <a:prstDash val="solid"/>
          </a:ln>
        </p:spPr>
      </p:sp>
      <p:pic>
        <p:nvPicPr>
          <p:cNvPr id="6" name="Image 0" descr="/mnt/data/fap_work/ligue1_dashboard/assets/logos/rc-lens.football-logos.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0"/>
            <a:ext cx="1371600" cy="1371600"/>
          </a:xfrm>
          <a:prstGeom prst="rect">
            <a:avLst/>
          </a:prstGeom>
        </p:spPr>
      </p:pic>
      <p:pic>
        <p:nvPicPr>
          <p:cNvPr id="7" name="Image 1" descr="/mnt/data/fap_work/ligue1_dashboard/assets/logos/paris-saint-germain.football-logos.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434840"/>
            <a:ext cx="914400" cy="914400"/>
          </a:xfrm>
          <a:prstGeom prst="rect">
            <a:avLst/>
          </a:prstGeom>
        </p:spPr>
      </p:pic>
      <p:pic>
        <p:nvPicPr>
          <p:cNvPr id="8" name="Image 2" descr="/mnt/data/fap_work/ligue1_dashboard/assets/logos/as-monaco.football-logos.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754880"/>
            <a:ext cx="868680" cy="868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640080"/>
            <a:ext cx="1828800" cy="292608"/>
          </a:xfrm>
          <a:prstGeom prst="rect">
            <a:avLst/>
          </a:prstGeom>
          <a:solidFill>
            <a:srgbClr val="00D084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GITHUB READY VERSION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40080" y="1143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Football Analytics Pro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64008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Ligue 1 + Coupe de France tactical intelligence dashboard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40080" y="2423160"/>
            <a:ext cx="6126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Dash / Plotly platform for match analysis, player profiling, pitch maps, H2H scouting, pre/post-match reporting and PDF export.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85800" y="37947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60120" y="4069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525k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0120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events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960120" y="4672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Ligue 1</a:t>
            </a:r>
            <a:endParaRPr lang="en-US" sz="680" dirty="0"/>
          </a:p>
        </p:txBody>
      </p:sp>
      <p:sp>
        <p:nvSpPr>
          <p:cNvPr id="17" name="Text 12"/>
          <p:cNvSpPr/>
          <p:nvPr/>
        </p:nvSpPr>
        <p:spPr>
          <a:xfrm>
            <a:off x="2359152" y="4069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A7FF"/>
                </a:solidFill>
              </a:rPr>
              <a:t>305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359152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matches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359152" y="4672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League</a:t>
            </a:r>
            <a:endParaRPr lang="en-US" sz="680" dirty="0"/>
          </a:p>
        </p:txBody>
      </p:sp>
      <p:sp>
        <p:nvSpPr>
          <p:cNvPr id="20" name="Text 15"/>
          <p:cNvSpPr/>
          <p:nvPr/>
        </p:nvSpPr>
        <p:spPr>
          <a:xfrm>
            <a:off x="3749040" y="4069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</a:rPr>
              <a:t>109k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3749040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cup events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749040" y="4672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Coupe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5138928" y="4069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63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5138928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cup matches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138928" y="4672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Knockout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thesis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937760" cy="4251960"/>
          </a:xfrm>
          <a:prstGeom prst="roundRect">
            <a:avLst>
              <a:gd name="adj" fmla="val 1720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19072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From raw eventing to coach-ready decisions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2519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CBD5E1"/>
                </a:solidFill>
              </a:rPr>
              <a:t>One dashboard for league and cup workflows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Every metric carries source and methodology boundaries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Player reports use role-specific templates and peer context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Post-match KPIs compare match output vs team and league averages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QA scripts target historical trust failures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389888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</a:rPr>
              <a:t>Wyscout-first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score truth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0" y="16002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Shared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report model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01200" y="16002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Knockout-aware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0" y="1965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cup logic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278892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Release value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4930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The project is structured as a portfolio-grade analytics product: reproducible setup, source-labelled metrics, modular components, release QA, and professional documentation.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1325880" cy="292608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Coach-facing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4709160"/>
            <a:ext cx="1325880" cy="292608"/>
          </a:xfrm>
          <a:prstGeom prst="rect">
            <a:avLst/>
          </a:prstGeom>
          <a:solidFill>
            <a:srgbClr val="3BA7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Scout-ready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18320" y="4709160"/>
            <a:ext cx="1417320" cy="292608"/>
          </a:xfrm>
          <a:prstGeom prst="rect">
            <a:avLst/>
          </a:prstGeom>
          <a:solidFill>
            <a:srgbClr val="00D084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GitHub-ready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estate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Two competition formats in one product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Ligue 1 events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911096"/>
            <a:ext cx="4846320" cy="128016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911096"/>
            <a:ext cx="4846320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856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525k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41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Ligue 1 matches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2478024"/>
            <a:ext cx="4846320" cy="128016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478024"/>
            <a:ext cx="137160" cy="128016"/>
          </a:xfrm>
          <a:prstGeom prst="rect">
            <a:avLst/>
          </a:prstGeom>
          <a:solidFill>
            <a:srgbClr val="3BA7FF"/>
          </a:solidFill>
          <a:ln w="12700">
            <a:solidFill>
              <a:srgbClr val="3B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423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305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008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Cup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3044952"/>
            <a:ext cx="4846320" cy="128016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3044952"/>
            <a:ext cx="1002809" cy="128016"/>
          </a:xfrm>
          <a:prstGeom prst="rect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9900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109k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Cup matches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846320" cy="128016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3611880"/>
            <a:ext cx="137160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35570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63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Teams total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4178808"/>
            <a:ext cx="4846320" cy="128016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178808"/>
            <a:ext cx="13716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123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82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Players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4745736"/>
            <a:ext cx="4846320" cy="128016"/>
          </a:xfrm>
          <a:prstGeom prst="rect">
            <a:avLst/>
          </a:prstGeom>
          <a:solidFill>
            <a:srgbClr val="263244"/>
          </a:solidFill>
          <a:ln w="12700">
            <a:solidFill>
              <a:srgbClr val="2632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4745736"/>
            <a:ext cx="137160" cy="12801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4690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572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78240" y="141732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Competition-aware loader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70848" y="22402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League folders use matchweeks. Cup folders use ordered knockout rounds.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280" y="3246120"/>
            <a:ext cx="822960" cy="292608"/>
          </a:xfrm>
          <a:prstGeom prst="rect">
            <a:avLst/>
          </a:prstGeom>
          <a:solidFill>
            <a:srgbClr val="3BA7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League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04120" y="3246120"/>
            <a:ext cx="685800" cy="292608"/>
          </a:xfrm>
          <a:prstGeom prst="rect">
            <a:avLst/>
          </a:prstGeom>
          <a:solidFill>
            <a:srgbClr val="00D084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Cup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98280" y="3794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Result: one codebase, multiple competition formats.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20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7FF"/>
                </a:solidFill>
              </a:rPr>
              <a:t>Opta 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3134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CSV match files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410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Wyscout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423367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team-match exports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15468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Canonical loader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32735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team aliases / cache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44068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00D084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084"/>
                </a:solidFill>
              </a:rPr>
              <a:t>Match 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50408" y="32735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score source of truth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72668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Analytics modules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36408" y="32735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radar / maps / H2H / reports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001268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72033"/>
          </a:solidFill>
          <a:ln w="1270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</a:rPr>
              <a:t>Dash UI + PDF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22408" y="32735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interactive + export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468880" y="2286000"/>
            <a:ext cx="685800" cy="777240"/>
          </a:xfrm>
          <a:prstGeom prst="line">
            <a:avLst/>
          </a:prstGeom>
          <a:noFill/>
          <a:ln w="12700">
            <a:solidFill>
              <a:srgbClr val="3BA7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68880" y="4206240"/>
            <a:ext cx="685800" cy="-86868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00600" y="3246120"/>
            <a:ext cx="640080" cy="0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86600" y="3246120"/>
            <a:ext cx="640080" cy="0"/>
          </a:xfrm>
          <a:prstGeom prst="line">
            <a:avLst/>
          </a:prstGeom>
          <a:noFill/>
          <a:ln w="12700">
            <a:solidFill>
              <a:srgbClr val="00D0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3246120"/>
            <a:ext cx="64008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97280" y="5257800"/>
            <a:ext cx="1001268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449824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Design principle: separate source truth, metric methodology, and UI rendering so football trust can be tested before styling.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MODULES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surface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league/cup context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11880" y="150876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7FF"/>
                </a:solidFill>
              </a:rPr>
              <a:t>Match Center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3048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scores, stats, formations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00D08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084"/>
                </a:solidFill>
              </a:rPr>
              <a:t>Head-to-Head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sample-specific matchup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89720" y="150876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5431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Player Hub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0888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radars + role profile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Pitch Maps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valid-event tactical maps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34290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0613"/>
                </a:solidFill>
              </a:rPr>
              <a:t>Trends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3048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season dynamics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34290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Reports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1968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pre/post + PDF model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98280" y="5257800"/>
            <a:ext cx="214884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5440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7 core analysis modules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model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00D084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0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</a:rPr>
              <a:t>Official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16093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Wyscout xG, xGA, PPDA, possession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14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A7FF"/>
                </a:solidFill>
              </a:rPr>
              <a:t>Event-derived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5237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passes, entries, zones, tackles, recoveries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29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Estimated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34381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shot-level xG and context charts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43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Inferred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43525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key passes from pass-before-shot logic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452628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Methodology guarantees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2240280"/>
            <a:ext cx="37033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</a:rPr>
              <a:t>Wyscout and estimated xG are never silently mixed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Pre-match goal profile uses selected opponent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Post-match KPIs compare against team and league averages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Radar rows expose raw value, peer max, rank and source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Pitch maps show plotted and excluded event counts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RADAR AND SCOUTING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Player Hub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700"/>
                </a:solidFill>
              </a:rPr>
              <a:t>Radar integrity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37560" y="3794760"/>
            <a:ext cx="0" cy="-123444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3794760"/>
            <a:ext cx="1069056" cy="-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3794760"/>
            <a:ext cx="1069056" cy="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3794760"/>
            <a:ext cx="0" cy="123444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794760"/>
            <a:ext cx="-1069056" cy="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3794760"/>
            <a:ext cx="-1069056" cy="-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3362706"/>
            <a:ext cx="374170" cy="216027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1730" y="3578733"/>
            <a:ext cx="0" cy="432054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1730" y="4010787"/>
            <a:ext cx="-374170" cy="216027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4226814"/>
            <a:ext cx="-374170" cy="-216027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63390" y="4010787"/>
            <a:ext cx="0" cy="-432054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3390" y="3578733"/>
            <a:ext cx="374170" cy="-216027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2992374"/>
            <a:ext cx="694887" cy="401193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32447" y="3393567"/>
            <a:ext cx="0" cy="802386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32447" y="4195953"/>
            <a:ext cx="-694887" cy="401193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4597146"/>
            <a:ext cx="-694887" cy="-401193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42673" y="4195953"/>
            <a:ext cx="0" cy="-802386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42673" y="3393567"/>
            <a:ext cx="694887" cy="-401193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560320"/>
            <a:ext cx="1069056" cy="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6616" y="3177540"/>
            <a:ext cx="0" cy="123444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6616" y="4411980"/>
            <a:ext cx="-1069056" cy="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5029200"/>
            <a:ext cx="-1069056" cy="-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68504" y="4411980"/>
            <a:ext cx="0" cy="-123444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68504" y="3177540"/>
            <a:ext cx="1069056" cy="-617220"/>
          </a:xfrm>
          <a:prstGeom prst="line">
            <a:avLst/>
          </a:prstGeom>
          <a:noFill/>
          <a:ln w="12700">
            <a:solidFill>
              <a:srgbClr val="3141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560320"/>
            <a:ext cx="769721" cy="790042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07281" y="3350362"/>
            <a:ext cx="-192430" cy="777697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14850" y="4128059"/>
            <a:ext cx="-577290" cy="777697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4905756"/>
            <a:ext cx="-406241" cy="-876452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31319" y="4029304"/>
            <a:ext cx="-288645" cy="-635737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42673" y="3393567"/>
            <a:ext cx="694887" cy="-833247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Max-normalized peer 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+ raw audit table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141732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What the scout gets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20840" y="2240280"/>
            <a:ext cx="40233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</a:rPr>
              <a:t>Position-specific peer pool and confidence badge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Radar modes: max-normalized or percentile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Raw value vs peer max vs rank shown in table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Role-specific influence templates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Unavailable metrics excluded, not shown as strengths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VALID-EVENT TACTICAL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Pitch Maps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691640"/>
            <a:ext cx="4800600" cy="3063240"/>
          </a:xfrm>
          <a:prstGeom prst="rect">
            <a:avLst/>
          </a:prstGeom>
          <a:solidFill>
            <a:srgbClr val="0F3B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3300" y="1691640"/>
            <a:ext cx="0" cy="3063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2468880"/>
            <a:ext cx="777240" cy="777240"/>
          </a:xfrm>
          <a:prstGeom prst="arc">
            <a:avLst/>
          </a:prstGeom>
          <a:solidFill>
            <a:srgbClr val="0F3B2E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103120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566160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4023360"/>
            <a:ext cx="128016" cy="128016"/>
          </a:xfrm>
          <a:prstGeom prst="ellipse">
            <a:avLst/>
          </a:prstGeom>
          <a:solidFill>
            <a:srgbClr val="3BA7FF"/>
          </a:solidFill>
          <a:ln w="12700">
            <a:solidFill>
              <a:srgbClr val="3BA7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057400"/>
            <a:ext cx="128016" cy="128016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D08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128016" cy="128016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4206240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651760"/>
            <a:ext cx="128016" cy="128016"/>
          </a:xfrm>
          <a:prstGeom prst="ellipse">
            <a:avLst/>
          </a:prstGeom>
          <a:solidFill>
            <a:srgbClr val="3BA7FF"/>
          </a:solidFill>
          <a:ln w="12700">
            <a:solidFill>
              <a:srgbClr val="3BA7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Map footer = plotted valid events, excluded rows, filters and source.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234440"/>
            <a:ext cx="4343400" cy="475488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Trust rules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2057400"/>
            <a:ext cx="35661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CBD5E1"/>
                </a:solidFill>
              </a:rPr>
              <a:t>Out/admin/out-of-bounds rows excluded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One central zone model for all maps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Counts, dots, footer and insights use same cleaned dataframe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Touch, reception and pass origin maps use correct x/y fields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Tactical insights include evidence and coaching implication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PRE-MATCH, POST-MATCH AND PDF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Pre-match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2286000"/>
            <a:ext cx="2651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</a:rPr>
              <a:t>Opponent goal profile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Threat / weakness normalisation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Key player roles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Game plan targets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A7FF"/>
                </a:solidFill>
              </a:rPr>
              <a:t>Post-match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6592" y="2286000"/>
            <a:ext cx="2651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</a:rPr>
              <a:t>Match KPI vs season average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Team and league benchmarks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Plan vs execution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Position-specific influence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37160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12700">
            <a:solidFill>
              <a:srgbClr val="00D08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084"/>
                </a:solidFill>
              </a:rPr>
              <a:t>PDF export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94192" y="2286000"/>
            <a:ext cx="2651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</a:rPr>
              <a:t>Shared report model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Logo/table fallback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Chart rendering via Kaleido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Source caveat footer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KNOCKOUT ADAPTATION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Coupe de France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7FF"/>
                </a:solidFill>
              </a:rPr>
              <a:t>32nd Finals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386584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0574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7FF"/>
                </a:solidFill>
              </a:rPr>
              <a:t>16th Finals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0" y="2386584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34840" y="20574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7FF"/>
                </a:solidFill>
              </a:rPr>
              <a:t>8th Finals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386584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3640" y="20574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7FF"/>
                </a:solidFill>
              </a:rPr>
              <a:t>QF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80960" y="2386584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92440" y="20574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A7FF"/>
                </a:solidFill>
              </a:rPr>
              <a:t>SF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2386584"/>
            <a:ext cx="411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20574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4392" y="2267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Final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5840" y="365760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977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084"/>
                </a:solidFill>
              </a:rPr>
              <a:t>108,703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17320" y="4343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cup events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88920" y="3977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A7FF"/>
                </a:solidFill>
              </a:rPr>
              <a:t>63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88920" y="4343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matches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60520" y="3977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64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160520" y="43434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teams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37960" y="3657600"/>
            <a:ext cx="43434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0507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Cup mode replaces league tables with round progress and cup-run summaries.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AND 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quality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700"/>
                </a:solidFill>
              </a:rPr>
              <a:t>Reproducible checks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20624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CBD5E1"/>
                </a:solidFill>
              </a:rPr>
              <a:t>compileall syntax gate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smoke tests for critical logic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release readiness checks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goal distribution regression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radar value consistency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post-match KPI context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</a:rPr>
              <a:t>Coupe de France integration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72033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GitHub-ready docs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148840"/>
            <a:ext cx="36576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</a:rPr>
              <a:t>README with real data counts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KPI definitions and source boundaries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Methodology and trust limitations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Data-source notes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</a:rPr>
              <a:t>Release checklist and changelog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PRESENT 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story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138988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A football intelligence platform that turns raw eventing into decisions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7048" y="2907792"/>
            <a:ext cx="365760" cy="256032"/>
          </a:xfrm>
          <a:prstGeom prst="rect">
            <a:avLst/>
          </a:prstGeom>
          <a:solidFill>
            <a:srgbClr val="3BA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3310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Choose competition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35844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League or cup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3310128"/>
            <a:ext cx="48463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2743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907792"/>
            <a:ext cx="365760" cy="256032"/>
          </a:xfrm>
          <a:prstGeom prst="rect">
            <a:avLst/>
          </a:prstGeom>
          <a:solidFill>
            <a:srgbClr val="3BA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18688" y="3310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Open Match Center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35844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Score, momentum, formation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0" y="3310128"/>
            <a:ext cx="48463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2743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7608" y="2907792"/>
            <a:ext cx="365760" cy="256032"/>
          </a:xfrm>
          <a:prstGeom prst="rect">
            <a:avLst/>
          </a:prstGeom>
          <a:solidFill>
            <a:srgbClr val="3BA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58968" y="3310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Inspect Pitch Maps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58968" y="35844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Where and why events happen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40880" y="3310128"/>
            <a:ext cx="48463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2743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3BA7F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2907792"/>
            <a:ext cx="365760" cy="256032"/>
          </a:xfrm>
          <a:prstGeom prst="rect">
            <a:avLst/>
          </a:prstGeom>
          <a:solidFill>
            <a:srgbClr val="3BA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99248" y="3310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Profile players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99248" y="35844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Radar + role context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281160" y="3310128"/>
            <a:ext cx="48463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829800" y="27432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FFD700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88168" y="2907792"/>
            <a:ext cx="365760" cy="256032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617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39528" y="33101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Export report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39528" y="35844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Pre/post tactical evidence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94560" y="498348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51937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Best final demo: Lens cup run → Match Center → Pitch Maps → Player Hub → Post-match report with season-average context.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Football Analytics Pro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Football Analytics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Analytics Pro — Release Presentation</dc:title>
  <dc:subject>Football Analytics Pro project presentation</dc:subject>
  <dc:creator>Vusal Ahmedzadeh</dc:creator>
  <cp:lastModifiedBy>Vusal Ahmedzadeh</cp:lastModifiedBy>
  <cp:revision>1</cp:revision>
  <dcterms:created xsi:type="dcterms:W3CDTF">2026-06-28T19:45:49Z</dcterms:created>
  <dcterms:modified xsi:type="dcterms:W3CDTF">2026-06-28T19:45:49Z</dcterms:modified>
</cp:coreProperties>
</file>